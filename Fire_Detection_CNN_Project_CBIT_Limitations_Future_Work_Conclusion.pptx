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8b4ad4319a44c6" /><Relationship Type="http://schemas.openxmlformats.org/officeDocument/2006/relationships/extended-properties" Target="/docProps/app.xml" Id="R4c44c28c23e745da" /><Relationship Type="http://schemas.openxmlformats.org/officeDocument/2006/relationships/officeDocument" Target="/ppt/presentation.xml" Id="R162708ea6b3547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53f0ff3fd4ee3"/>
  </p:sldMasterIdLst>
  <p:notesMasterIdLst>
    <p:notesMasterId xmlns:r="http://schemas.openxmlformats.org/officeDocument/2006/relationships" r:id="R47e41d8a929d4a9e"/>
  </p:notesMasterIdLst>
  <p:sldIdLst>
    <p:sldId xmlns:r="http://schemas.openxmlformats.org/officeDocument/2006/relationships" id="256" r:id="Rd9a642dc5db34f8f"/>
    <p:sldId xmlns:r="http://schemas.openxmlformats.org/officeDocument/2006/relationships" id="257" r:id="R65bb82f223404229"/>
    <p:sldId xmlns:r="http://schemas.openxmlformats.org/officeDocument/2006/relationships" id="258" r:id="R7e1b44bdb4134051"/>
    <p:sldId xmlns:r="http://schemas.openxmlformats.org/officeDocument/2006/relationships" id="259" r:id="R00f501caa7b14d19"/>
    <p:sldId xmlns:r="http://schemas.openxmlformats.org/officeDocument/2006/relationships" id="260" r:id="Rd5b8ef04c6e4465f"/>
    <p:sldId xmlns:r="http://schemas.openxmlformats.org/officeDocument/2006/relationships" id="261" r:id="R2cb59a7a0ea449fd"/>
    <p:sldId xmlns:r="http://schemas.openxmlformats.org/officeDocument/2006/relationships" id="262" r:id="R1b540500d5634a0c"/>
    <p:sldId xmlns:r="http://schemas.openxmlformats.org/officeDocument/2006/relationships" id="263" r:id="R9b7aaa7068c947db"/>
    <p:sldId xmlns:r="http://schemas.openxmlformats.org/officeDocument/2006/relationships" id="264" r:id="R0787eb7062224e91"/>
    <p:sldId xmlns:r="http://schemas.openxmlformats.org/officeDocument/2006/relationships" id="265" r:id="Rd799b3a04b6949d2"/>
    <p:sldId xmlns:r="http://schemas.openxmlformats.org/officeDocument/2006/relationships" id="266" r:id="Rf0e74f3939f74511"/>
    <p:sldId xmlns:r="http://schemas.openxmlformats.org/officeDocument/2006/relationships" id="267" r:id="R4eca13126e8b43cc"/>
    <p:sldId xmlns:r="http://schemas.openxmlformats.org/officeDocument/2006/relationships" id="268" r:id="R92b0ec2c8eb64679"/>
    <p:sldId xmlns:r="http://schemas.openxmlformats.org/officeDocument/2006/relationships" id="269" r:id="Rf2f0391df5e542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943c7732634363" /><Relationship Type="http://schemas.openxmlformats.org/officeDocument/2006/relationships/slideMaster" Target="/ppt/slideMasters/slideMaster1.xml" Id="R9ef53f0ff3fd4ee3" /><Relationship Type="http://schemas.openxmlformats.org/officeDocument/2006/relationships/notesMaster" Target="/ppt/notesMasters/notesMaster1.xml" Id="R47e41d8a929d4a9e" /><Relationship Type="http://schemas.openxmlformats.org/officeDocument/2006/relationships/presProps" Target="/ppt/presProps.xml" Id="R7dd168596f7b4c57" /><Relationship Type="http://schemas.openxmlformats.org/officeDocument/2006/relationships/tableStyles" Target="/ppt/tableStyles.xml" Id="R910678c892e24468" /><Relationship Type="http://schemas.openxmlformats.org/officeDocument/2006/relationships/slide" Target="/ppt/slides/slide1.xml" Id="Rd9a642dc5db34f8f" /><Relationship Type="http://schemas.openxmlformats.org/officeDocument/2006/relationships/slide" Target="/ppt/slides/slide2.xml" Id="R65bb82f223404229" /><Relationship Type="http://schemas.openxmlformats.org/officeDocument/2006/relationships/slide" Target="/ppt/slides/slide3.xml" Id="R7e1b44bdb4134051" /><Relationship Type="http://schemas.openxmlformats.org/officeDocument/2006/relationships/slide" Target="/ppt/slides/slide4.xml" Id="R00f501caa7b14d19" /><Relationship Type="http://schemas.openxmlformats.org/officeDocument/2006/relationships/slide" Target="/ppt/slides/slide5.xml" Id="Rd5b8ef04c6e4465f" /><Relationship Type="http://schemas.openxmlformats.org/officeDocument/2006/relationships/slide" Target="/ppt/slides/slide6.xml" Id="R2cb59a7a0ea449fd" /><Relationship Type="http://schemas.openxmlformats.org/officeDocument/2006/relationships/slide" Target="/ppt/slides/slide7.xml" Id="R1b540500d5634a0c" /><Relationship Type="http://schemas.openxmlformats.org/officeDocument/2006/relationships/slide" Target="/ppt/slides/slide8.xml" Id="R9b7aaa7068c947db" /><Relationship Type="http://schemas.openxmlformats.org/officeDocument/2006/relationships/slide" Target="/ppt/slides/slide9.xml" Id="R0787eb7062224e91" /><Relationship Type="http://schemas.openxmlformats.org/officeDocument/2006/relationships/slide" Target="/ppt/slides/slide10.xml" Id="Rd799b3a04b6949d2" /><Relationship Type="http://schemas.openxmlformats.org/officeDocument/2006/relationships/slide" Target="/ppt/slides/slide11.xml" Id="Rf0e74f3939f74511" /><Relationship Type="http://schemas.openxmlformats.org/officeDocument/2006/relationships/slide" Target="/ppt/slides/slide12.xml" Id="R4eca13126e8b43cc" /><Relationship Type="http://schemas.openxmlformats.org/officeDocument/2006/relationships/slide" Target="/ppt/slides/slide13.xml" Id="R92b0ec2c8eb64679" /><Relationship Type="http://schemas.openxmlformats.org/officeDocument/2006/relationships/slide" Target="/ppt/slides/slide14.xml" Id="Rf2f0391df5e542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a8ef6304064d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557cf516914158" /><Relationship Type="http://schemas.openxmlformats.org/officeDocument/2006/relationships/notesMaster" Target="/ppt/notesMasters/notesMaster1.xml" Id="R589bc1b469f0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6065b973d241d3" /><Relationship Type="http://schemas.openxmlformats.org/officeDocument/2006/relationships/notesMaster" Target="/ppt/notesMasters/notesMaster1.xml" Id="R922b35390aee4c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6abb1334244491" /><Relationship Type="http://schemas.openxmlformats.org/officeDocument/2006/relationships/notesMaster" Target="/ppt/notesMasters/notesMaster1.xml" Id="R4bb08dcd5813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e9f21a15eb4451" /><Relationship Type="http://schemas.openxmlformats.org/officeDocument/2006/relationships/notesMaster" Target="/ppt/notesMasters/notesMaster1.xml" Id="Re0057a03626c49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9b13212d0a4a2a" /><Relationship Type="http://schemas.openxmlformats.org/officeDocument/2006/relationships/notesMaster" Target="/ppt/notesMasters/notesMaster1.xml" Id="R18be58252c3a49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881eaec0443a7" /><Relationship Type="http://schemas.openxmlformats.org/officeDocument/2006/relationships/notesMaster" Target="/ppt/notesMasters/notesMaster1.xml" Id="R4aff7ace67da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b0c464bbce43ae" /><Relationship Type="http://schemas.openxmlformats.org/officeDocument/2006/relationships/notesMaster" Target="/ppt/notesMasters/notesMaster1.xml" Id="Rf2721c9d8fa74a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250851557e4193" /><Relationship Type="http://schemas.openxmlformats.org/officeDocument/2006/relationships/notesMaster" Target="/ppt/notesMasters/notesMaster1.xml" Id="Rf01c87c8f65e42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bb8d659dd44b78" /><Relationship Type="http://schemas.openxmlformats.org/officeDocument/2006/relationships/notesMaster" Target="/ppt/notesMasters/notesMaster1.xml" Id="R7e052eba7cf944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a9f2dd0e5d4a6f" /><Relationship Type="http://schemas.openxmlformats.org/officeDocument/2006/relationships/notesMaster" Target="/ppt/notesMasters/notesMaster1.xml" Id="R4f4c8b3a415541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8659e8786f4253" /><Relationship Type="http://schemas.openxmlformats.org/officeDocument/2006/relationships/notesMaster" Target="/ppt/notesMasters/notesMaster1.xml" Id="R362dbae52b7a48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964e149a7d4995" /><Relationship Type="http://schemas.openxmlformats.org/officeDocument/2006/relationships/notesMaster" Target="/ppt/notesMasters/notesMaster1.xml" Id="R91ea02735cd549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40c33b72be45ca" /><Relationship Type="http://schemas.openxmlformats.org/officeDocument/2006/relationships/notesMaster" Target="/ppt/notesMasters/notesMaster1.xml" Id="Ra2688c92255241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b6f36ae3b44696" /><Relationship Type="http://schemas.openxmlformats.org/officeDocument/2006/relationships/notesMaster" Target="/ppt/notesMasters/notesMaster1.xml" Id="R70f7e8013712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scope as classification of still camera images. The notebook states that this is an educational prototype, not a certified fire-safety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practical problem of manual or unreliable fire recognition with the image-classification pipeline implemented in the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output reports 2,506 images, nearly balanced between classes. It creates an 80/20 train-validation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is a binary image label. This page shows the core data-to-prediction path and training transformations.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has three convolution blocks, then global average pooling and a sigmoid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minimizes binary cross-entropy using backpropagation and Adam. Callbacks manage checkpoints, stopping, and learning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charts use the per-epoch history printed by model.fit in the updated notebook. Validation metrics are aggregate metrics from one pass per epoch.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hierarchical features and how labeled examples drive the learned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saved outputs show a conflict between evaluate() and the later report, likely because validation order changes between iterations.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sweeps thresholds from 0.10 to 0.90. Because label-score ordering is likely misaligned, those saved sweep values should not guide threshold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computes Grad-CAM on six validation images by weighting the final convolution maps with gradients of the fire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opens a local JPG or PNG, converts it to RGB, resizes it, and predicts with the saved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demonstrated concepts, the evaluation repair, and the prototype’s safety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has one confirmed evaluation inconsistency and two risks the author should control before treating the model as a safety tool. Remedies below are proposed next steps, not completed fixes.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Factual source: User-provided Fire_Detection_CNN_final.ipynb. Visual reference: Swiggy_Case_Study_Redesigned.pdf.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28f75b5e049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3bea65ddb47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d2d4634314b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017bfdd5241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70e0a5f8d49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5650e2a2e48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E777F3-2CF0-43C1-893D-C9C27A6BF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2FF04C-C4BF-4994-AF68-BD96E93C4D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ED1AC3-E480-4D3F-95F0-B86CE2CBF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DA808B-51EE-4CAF-9282-370FDE141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B86C04-DF81-4006-8AD5-0A8197CB7F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FAECF5-930B-4D73-B4DF-F61522399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CFCBA2-A94D-4423-864E-F1E2A4A366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7BB7B5-B3DB-4C68-B70D-23F95654BB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82BEF5-D901-4F60-90B0-BE35ED2698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F9DFD5-2542-48D8-820D-979551A9E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cd8365694a42d9" /><Relationship Type="http://schemas.openxmlformats.org/officeDocument/2006/relationships/slideLayout" Target="/ppt/slideLayouts/slideLayout1.xml" Id="R32aa5ab7d8ab4152" /><Relationship Type="http://schemas.openxmlformats.org/officeDocument/2006/relationships/slideLayout" Target="/ppt/slideLayouts/slideLayout2.xml" Id="Rb012b7260d4e402e" /><Relationship Type="http://schemas.openxmlformats.org/officeDocument/2006/relationships/slideLayout" Target="/ppt/slideLayouts/slideLayout3.xml" Id="R5573a80874024060" /><Relationship Type="http://schemas.openxmlformats.org/officeDocument/2006/relationships/slideLayout" Target="/ppt/slideLayouts/slideLayout4.xml" Id="R6ac3f6b8673b48dc" /><Relationship Type="http://schemas.openxmlformats.org/officeDocument/2006/relationships/slideLayout" Target="/ppt/slideLayouts/slideLayout5.xml" Id="Rbd51a4df73f14b58" /><Relationship Type="http://schemas.openxmlformats.org/officeDocument/2006/relationships/slideLayout" Target="/ppt/slideLayouts/slideLayout6.xml" Id="Rfc4376a97a9a41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aa5ab7d8ab4152"/>
    <p:sldLayoutId xmlns:r="http://schemas.openxmlformats.org/officeDocument/2006/relationships" id="2147483650" r:id="Rb012b7260d4e402e"/>
    <p:sldLayoutId xmlns:r="http://schemas.openxmlformats.org/officeDocument/2006/relationships" id="2147483651" r:id="R5573a80874024060"/>
    <p:sldLayoutId xmlns:r="http://schemas.openxmlformats.org/officeDocument/2006/relationships" id="2147483652" r:id="R6ac3f6b8673b48dc"/>
    <p:sldLayoutId xmlns:r="http://schemas.openxmlformats.org/officeDocument/2006/relationships" id="2147483653" r:id="Rbd51a4df73f14b58"/>
    <p:sldLayoutId xmlns:r="http://schemas.openxmlformats.org/officeDocument/2006/relationships" id="2147483654" r:id="Rfc4376a97a9a41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0da8c10dd4304" /><Relationship Type="http://schemas.openxmlformats.org/officeDocument/2006/relationships/image" Target="/ppt/media/image.png" Id="Rb4b02c1690334119" /><Relationship Type="http://schemas.openxmlformats.org/officeDocument/2006/relationships/notesSlide" Target="/ppt/notesSlides/notesSlide1.xml" Id="R092d7416d08545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98e5795e8414d" /><Relationship Type="http://schemas.openxmlformats.org/officeDocument/2006/relationships/image" Target="/ppt/media/image2.png" Id="R7b429eb2d4144c8c" /><Relationship Type="http://schemas.openxmlformats.org/officeDocument/2006/relationships/notesSlide" Target="/ppt/notesSlides/notesSlide2.xml" Id="Ra03cd75f4345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029e013a14b7b" /><Relationship Type="http://schemas.openxmlformats.org/officeDocument/2006/relationships/image" Target="/ppt/media/image3.png" Id="R316ad71c8cf74b12" /><Relationship Type="http://schemas.openxmlformats.org/officeDocument/2006/relationships/chart" Target="/ppt/slides/charts/chart1.xml" Id="Rf50568342e8a409d" /><Relationship Type="http://schemas.openxmlformats.org/officeDocument/2006/relationships/notesSlide" Target="/ppt/notesSlides/notesSlide3.xml" Id="R7db76020cf4c41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8daf2b1a24450" /><Relationship Type="http://schemas.openxmlformats.org/officeDocument/2006/relationships/image" Target="/ppt/media/image4.png" Id="Rb188af5a83d84f84" /><Relationship Type="http://schemas.openxmlformats.org/officeDocument/2006/relationships/notesSlide" Target="/ppt/notesSlides/notesSlide4.xml" Id="R8aba4278b2c24d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614bd6ff440eb" /><Relationship Type="http://schemas.openxmlformats.org/officeDocument/2006/relationships/image" Target="/ppt/media/image5.png" Id="Ra5aa58f0c08646f0" /><Relationship Type="http://schemas.openxmlformats.org/officeDocument/2006/relationships/notesSlide" Target="/ppt/notesSlides/notesSlide5.xml" Id="Rf82e835789f340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c72c1bf9b4953" /><Relationship Type="http://schemas.openxmlformats.org/officeDocument/2006/relationships/image" Target="/ppt/media/image6.png" Id="Rdb10f3b7d57845c6" /><Relationship Type="http://schemas.openxmlformats.org/officeDocument/2006/relationships/notesSlide" Target="/ppt/notesSlides/notesSlide6.xml" Id="R12f52b0e191242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de3ec5a5d40ec" /><Relationship Type="http://schemas.openxmlformats.org/officeDocument/2006/relationships/image" Target="/ppt/media/image7.png" Id="Rd08e4c40a24943b1" /><Relationship Type="http://schemas.openxmlformats.org/officeDocument/2006/relationships/chart" Target="/ppt/slides/charts/chart2.xml" Id="Rb532c4543daf400b" /><Relationship Type="http://schemas.openxmlformats.org/officeDocument/2006/relationships/chart" Target="/ppt/slides/charts/chart3.xml" Id="Rd4afb961541843f8" /><Relationship Type="http://schemas.openxmlformats.org/officeDocument/2006/relationships/notesSlide" Target="/ppt/notesSlides/notesSlide7.xml" Id="R7a8e4d50b52b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b63f47da340e5" /><Relationship Type="http://schemas.openxmlformats.org/officeDocument/2006/relationships/image" Target="/ppt/media/image8.png" Id="R6b8897613318491e" /><Relationship Type="http://schemas.openxmlformats.org/officeDocument/2006/relationships/notesSlide" Target="/ppt/notesSlides/notesSlide8.xml" Id="R6b0faa3e4bb448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c554c92f640f9" /><Relationship Type="http://schemas.openxmlformats.org/officeDocument/2006/relationships/image" Target="/ppt/media/image9.png" Id="R1bce05b513864beb" /><Relationship Type="http://schemas.openxmlformats.org/officeDocument/2006/relationships/notesSlide" Target="/ppt/notesSlides/notesSlide9.xml" Id="R7ad0f6f0e6f946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b29ad922c44d7" /><Relationship Type="http://schemas.openxmlformats.org/officeDocument/2006/relationships/image" Target="/ppt/media/image10.png" Id="R0e7230413db34bd2" /><Relationship Type="http://schemas.openxmlformats.org/officeDocument/2006/relationships/notesSlide" Target="/ppt/notesSlides/notesSlide10.xml" Id="Rcd6b89a8643747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29fd3a4bb4e4d" /><Relationship Type="http://schemas.openxmlformats.org/officeDocument/2006/relationships/image" Target="/ppt/media/image11.png" Id="R12a16d8523c04df0" /><Relationship Type="http://schemas.openxmlformats.org/officeDocument/2006/relationships/notesSlide" Target="/ppt/notesSlides/notesSlide11.xml" Id="R61928d31281246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e0354bb77497a" /><Relationship Type="http://schemas.openxmlformats.org/officeDocument/2006/relationships/image" Target="/ppt/media/image12.png" Id="R52957950e9e84e7a" /><Relationship Type="http://schemas.openxmlformats.org/officeDocument/2006/relationships/notesSlide" Target="/ppt/notesSlides/notesSlide12.xml" Id="R9bd17c4edef14a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24e04a1e64f4f" /><Relationship Type="http://schemas.openxmlformats.org/officeDocument/2006/relationships/image" Target="/ppt/media/image13.png" Id="R01e284ec8b504612" /><Relationship Type="http://schemas.openxmlformats.org/officeDocument/2006/relationships/notesSlide" Target="/ppt/notesSlides/notesSlide13.xml" Id="R2257a6799eb04a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3fe5a6a83461f" /><Relationship Type="http://schemas.openxmlformats.org/officeDocument/2006/relationships/image" Target="/ppt/media/image14.png" Id="Rec539bdaac3a422e" /><Relationship Type="http://schemas.openxmlformats.org/officeDocument/2006/relationships/notesSlide" Target="/ppt/notesSlides/notesSlide14.xml" Id="Rd31d0b1d814d4d4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79131A"/>
                </a:solidFill>
              </a:rPr>
              <a:t>Class counts by split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79131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79131A"/>
            </a:solidFill>
          </c:spPr>
          <c:cat>
            <c:strRef>
              <c:f>'Chart Data'!$A$2:$A$3</c:f>
              <c:strCache>
                <c:ptCount val="2"/>
                <c:pt idx="0">
                  <c:v>nofire</c:v>
                </c:pt>
                <c:pt idx="1">
                  <c:v>fire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865</c:v>
                </c:pt>
                <c:pt idx="1">
                  <c:v>889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3F5B32"/>
            </a:solidFill>
          </c:spPr>
          <c:cat>
            <c:strRef>
              <c:f>'Chart Data'!$C$2:$C$3</c:f>
              <c:strCache>
                <c:ptCount val="2"/>
                <c:pt idx="0">
                  <c:v>nofire</c:v>
                </c:pt>
                <c:pt idx="1">
                  <c:v>fire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185</c:v>
                </c:pt>
                <c:pt idx="1">
                  <c:v>191</c:v>
                </c:pt>
              </c:numCache>
            </c:numRef>
          </c:val>
        </c:ser>
        <c:ser>
          <c:idx val="2"/>
          <c:order val="2"/>
          <c:tx>
            <c:v>Test</c:v>
          </c:tx>
          <c:spPr>
            <a:solidFill xmlns:a="http://schemas.openxmlformats.org/drawingml/2006/main">
              <a:srgbClr val="8194AB"/>
            </a:solidFill>
          </c:spPr>
          <c:cat>
            <c:strRef>
              <c:f>'Chart Data'!$E$2:$E$3</c:f>
              <c:strCache>
                <c:ptCount val="2"/>
                <c:pt idx="0">
                  <c:v>nofire</c:v>
                </c:pt>
                <c:pt idx="1">
                  <c:v>fire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185</c:v>
                </c:pt>
                <c:pt idx="1">
                  <c:v>191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29292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0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967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0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Images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96765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696765"/>
              </a:solidFill>
            </a:defRPr>
          </a:pPr>
        </a:p>
      </c:txPr>
    </c:legend>
    <c:plotVisOnly val="1"/>
  </c:chart>
  <c:spPr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79131A"/>
                </a:solidFill>
              </a:rPr>
              <a:t>Accuracy by epoch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79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19050">
              <a:solidFill>
                <a:srgbClr val="79131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9131A"/>
              </a:solidFill>
            </c:spPr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0%</c:formatCode>
                <c:ptCount val="20"/>
                <c:pt idx="0">
                  <c:v>0.7856</c:v>
                </c:pt>
                <c:pt idx="1">
                  <c:v>0.8466</c:v>
                </c:pt>
                <c:pt idx="2">
                  <c:v>0.8637</c:v>
                </c:pt>
                <c:pt idx="3">
                  <c:v>0.8905</c:v>
                </c:pt>
                <c:pt idx="4">
                  <c:v>0.919</c:v>
                </c:pt>
                <c:pt idx="5">
                  <c:v>0.919</c:v>
                </c:pt>
                <c:pt idx="6">
                  <c:v>0.9276</c:v>
                </c:pt>
                <c:pt idx="7">
                  <c:v>0.931</c:v>
                </c:pt>
                <c:pt idx="8">
                  <c:v>0.9322</c:v>
                </c:pt>
                <c:pt idx="9">
                  <c:v>0.9339</c:v>
                </c:pt>
                <c:pt idx="10">
                  <c:v>0.9327</c:v>
                </c:pt>
                <c:pt idx="11">
                  <c:v>0.935</c:v>
                </c:pt>
                <c:pt idx="12">
                  <c:v>0.9361</c:v>
                </c:pt>
                <c:pt idx="13">
                  <c:v>0.9441</c:v>
                </c:pt>
                <c:pt idx="14">
                  <c:v>0.9453</c:v>
                </c:pt>
                <c:pt idx="15">
                  <c:v>0.9487</c:v>
                </c:pt>
                <c:pt idx="16">
                  <c:v>0.9407</c:v>
                </c:pt>
                <c:pt idx="17">
                  <c:v>0.9532</c:v>
                </c:pt>
                <c:pt idx="18">
                  <c:v>0.9555</c:v>
                </c:pt>
                <c:pt idx="19">
                  <c:v>0.9527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19050">
              <a:solidFill>
                <a:srgbClr val="3F5B3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F5B32"/>
              </a:solidFill>
            </c:spPr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0%</c:formatCode>
                <c:ptCount val="20"/>
                <c:pt idx="0">
                  <c:v>0.5186</c:v>
                </c:pt>
                <c:pt idx="1">
                  <c:v>0.5319</c:v>
                </c:pt>
                <c:pt idx="2">
                  <c:v>0.508</c:v>
                </c:pt>
                <c:pt idx="3">
                  <c:v>0.492</c:v>
                </c:pt>
                <c:pt idx="4">
                  <c:v>0.7314</c:v>
                </c:pt>
                <c:pt idx="5">
                  <c:v>0.6941</c:v>
                </c:pt>
                <c:pt idx="6">
                  <c:v>0.8644</c:v>
                </c:pt>
                <c:pt idx="7">
                  <c:v>0.8777</c:v>
                </c:pt>
                <c:pt idx="8">
                  <c:v>0.8644</c:v>
                </c:pt>
                <c:pt idx="9">
                  <c:v>0.8936</c:v>
                </c:pt>
                <c:pt idx="10">
                  <c:v>0.8777</c:v>
                </c:pt>
                <c:pt idx="11">
                  <c:v>0.9122</c:v>
                </c:pt>
                <c:pt idx="12">
                  <c:v>0.9388</c:v>
                </c:pt>
                <c:pt idx="13">
                  <c:v>0.9149</c:v>
                </c:pt>
                <c:pt idx="14">
                  <c:v>0.9441</c:v>
                </c:pt>
                <c:pt idx="15">
                  <c:v>0.9122</c:v>
                </c:pt>
                <c:pt idx="16">
                  <c:v>0.9415</c:v>
                </c:pt>
                <c:pt idx="17">
                  <c:v>0.9149</c:v>
                </c:pt>
                <c:pt idx="18">
                  <c:v>0.9282</c:v>
                </c:pt>
                <c:pt idx="19">
                  <c:v>0.9202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Epoch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0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67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0D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E4E0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6765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96765"/>
              </a:solidFill>
            </a:defRPr>
          </a:pPr>
        </a:p>
      </c:txPr>
    </c:legend>
    <c:plotVisOnly val="1"/>
  </c:chart>
  <c:spPr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79131A"/>
                </a:solidFill>
              </a:rPr>
              <a:t>Binary cross-entropy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79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19050">
              <a:solidFill>
                <a:srgbClr val="79131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9131A"/>
              </a:solidFill>
            </c:spPr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0.4583</c:v>
                </c:pt>
                <c:pt idx="1">
                  <c:v>0.3647</c:v>
                </c:pt>
                <c:pt idx="2">
                  <c:v>0.3293</c:v>
                </c:pt>
                <c:pt idx="3">
                  <c:v>0.285</c:v>
                </c:pt>
                <c:pt idx="4">
                  <c:v>0.2207</c:v>
                </c:pt>
                <c:pt idx="5">
                  <c:v>0.2194</c:v>
                </c:pt>
                <c:pt idx="6">
                  <c:v>0.1987</c:v>
                </c:pt>
                <c:pt idx="7">
                  <c:v>0.1946</c:v>
                </c:pt>
                <c:pt idx="8">
                  <c:v>0.1961</c:v>
                </c:pt>
                <c:pt idx="9">
                  <c:v>0.1825</c:v>
                </c:pt>
                <c:pt idx="10">
                  <c:v>0.1879</c:v>
                </c:pt>
                <c:pt idx="11">
                  <c:v>0.195</c:v>
                </c:pt>
                <c:pt idx="12">
                  <c:v>0.1687</c:v>
                </c:pt>
                <c:pt idx="13">
                  <c:v>0.1594</c:v>
                </c:pt>
                <c:pt idx="14">
                  <c:v>0.1569</c:v>
                </c:pt>
                <c:pt idx="15">
                  <c:v>0.1545</c:v>
                </c:pt>
                <c:pt idx="16">
                  <c:v>0.1551</c:v>
                </c:pt>
                <c:pt idx="17">
                  <c:v>0.1455</c:v>
                </c:pt>
                <c:pt idx="18">
                  <c:v>0.1381</c:v>
                </c:pt>
                <c:pt idx="19">
                  <c:v>0.1287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19050">
              <a:solidFill>
                <a:srgbClr val="3F5B3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F5B32"/>
              </a:solidFill>
            </c:spPr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0.0</c:formatCode>
                <c:ptCount val="20"/>
                <c:pt idx="0">
                  <c:v>0.7295</c:v>
                </c:pt>
                <c:pt idx="1">
                  <c:v>0.7876</c:v>
                </c:pt>
                <c:pt idx="2">
                  <c:v>0.731</c:v>
                </c:pt>
                <c:pt idx="3">
                  <c:v>0.8403</c:v>
                </c:pt>
                <c:pt idx="4">
                  <c:v>0.5416</c:v>
                </c:pt>
                <c:pt idx="5">
                  <c:v>0.5923</c:v>
                </c:pt>
                <c:pt idx="6">
                  <c:v>0.3484</c:v>
                </c:pt>
                <c:pt idx="7">
                  <c:v>0.3313</c:v>
                </c:pt>
                <c:pt idx="8">
                  <c:v>0.3378</c:v>
                </c:pt>
                <c:pt idx="9">
                  <c:v>0.267</c:v>
                </c:pt>
                <c:pt idx="10">
                  <c:v>0.2902</c:v>
                </c:pt>
                <c:pt idx="11">
                  <c:v>0.1998</c:v>
                </c:pt>
                <c:pt idx="12">
                  <c:v>0.1927</c:v>
                </c:pt>
                <c:pt idx="13">
                  <c:v>0.1854</c:v>
                </c:pt>
                <c:pt idx="14">
                  <c:v>0.1972</c:v>
                </c:pt>
                <c:pt idx="15">
                  <c:v>0.2219</c:v>
                </c:pt>
                <c:pt idx="16">
                  <c:v>0.2008</c:v>
                </c:pt>
                <c:pt idx="17">
                  <c:v>0.2066</c:v>
                </c:pt>
                <c:pt idx="18">
                  <c:v>0.1783</c:v>
                </c:pt>
                <c:pt idx="19">
                  <c:v>0.209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Epoch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0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676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0D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E4E0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96765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96765"/>
              </a:solidFill>
            </a:defRPr>
          </a:pPr>
        </a:p>
      </c:txPr>
    </c:legend>
    <c:plotVisOnly val="1"/>
  </c:chart>
  <c:spPr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C3FA1-565E-47A1-A356-3F52D2ED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1C219-8E95-43C9-8804-03038AF089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2c1690334119"/>
          <a:stretch xmlns:a="http://schemas.openxmlformats.org/drawingml/2006/main"/>
        </p:blipFill>
        <p:spPr>
          <a:xfrm xmlns:a="http://schemas.openxmlformats.org/drawingml/2006/main">
            <a:off x="3476625" y="306718"/>
            <a:ext cx="819150" cy="8915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15D40-EE65-455D-86C7-49C9CA9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875" b="0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CHAITANYA BHARATHI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INSTITUTE OF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3454A-18A1-4671-8443-E3115F3C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Autonomous Institute | Affiliated to Osmania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1B501-3870-4EB6-801E-9D1BDF3A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F5B32"/>
                </a:solidFill>
                <a:latin typeface="Aptos"/>
                <a:ea typeface="Aptos"/>
                <a:cs typeface="Aptos"/>
              </a:rPr>
              <a:t>C A S E  S T U D 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122B4-1639-4CA0-BFD5-69DC033A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28825"/>
            <a:ext cx="990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750" b="1" i="0">
                <a:solidFill>
                  <a:srgbClr val="5D111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3750" b="1" i="0">
                <a:solidFill>
                  <a:srgbClr val="5D1114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5D1114"/>
                </a:solidFill>
                <a:latin typeface="Georgia"/>
                <a:ea typeface="Georgia"/>
                <a:cs typeface="Georgia"/>
              </a:rPr>
              <a:t>Fire Detection from</a:t>
            </a:r>
          </a:p>
          <a:p xmlns:a="http://schemas.openxmlformats.org/drawingml/2006/main">
            <a:pPr algn="ctr">
              <a:buNone/>
              <a:defRPr sz="3750" b="1" i="0">
                <a:solidFill>
                  <a:srgbClr val="5D1114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5D1114"/>
                </a:solidFill>
                <a:latin typeface="Georgia"/>
                <a:ea typeface="Georgia"/>
                <a:cs typeface="Georgia"/>
              </a:rPr>
              <a:t>Camera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32EF8-4E7F-4601-A23F-0F9F7BE6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65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650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A convolutional neural network for fire vs no-fire image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DF4F5-D92C-4AD8-B984-0CAC83E3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4812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56363-9CE7-442A-8FF9-C0A2A201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1200" b="1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Subject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98237-C632-4383-BC69-627FD290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Applied Artificial Neural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034A7-3924-48D2-B1A0-F3B0ECE3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14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1200" b="1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530AF-B5E4-46BD-B2BB-5341FDCB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14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Computer vision · supervised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251D0-F719-43E5-A144-6410E22D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67350"/>
            <a:ext cx="1219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DATA  /  CNN  /  TRAINING  /  EVALUATION</a:t>
            </a:r>
          </a:p>
        </p:txBody>
      </p:sp>
    </p:spTree>
    <p:extLst>
      <p:ext uri="{BB962C8B-B14F-4D97-AF65-F5344CB8AC3E}">
        <p14:creationId xmlns:p14="http://schemas.microsoft.com/office/powerpoint/2010/main" val="1232641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417C38-C45D-4920-8254-D6036CA5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01  ·  P R O B L E M   &amp;   S O L U T I O 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399BF-62E6-49CC-9504-1E18752D8D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29eb2d4144c8c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90960-4AC1-49DF-A0EB-FEEFEB73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Problem and Project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3125-FD66-43AE-9F4C-52C931A0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F7CDE-35C9-4DFB-B534-449F8A51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11C2D-8781-4F85-9FBC-BEEEDAB4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241C1-8299-400B-B879-D7CE2B13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905375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09F81-2CFA-4C7C-A976-C88F2583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04950"/>
            <a:ext cx="4905375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29790-790A-4AD5-A948-86ACC5DE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4286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D9D13-3CBC-408F-A56B-3CF0C318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49526-A012-45C0-BB38-B12AFFD5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430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80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9F1CE-E738-4936-B55C-1A6084A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Fires can grow before smoke reaches a detector or someone spots the fire and raises an alarm.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582C-9A11-483E-9D3E-396C3CD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289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3924B-778F-458D-BECC-9C815ECC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52775"/>
            <a:ext cx="3952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Detector response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CE966-143B-4CC6-ABD5-22C08A1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861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A smoke detector activates after smoke reaches its sensing element.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2CB62-9A72-4698-96F2-7340F5C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E800A-AE64-4739-BC76-88093B36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95750"/>
            <a:ext cx="3952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Manual reporting delay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40E96-6DC1-40EB-829C-36A68470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Someone must notice the fire and raise an alarm; staff may also miss events across many camera feeds.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15C13-D5E7-4798-A6EC-A98929EA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4143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64CE7-4B77-4292-BEA2-31D147E7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12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Risk: false confidence from a high accuracy score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96157-D0A4-46DD-B057-08EEAFEE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2862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D5430-BEFF-41F0-A62E-713DECD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9CD68B-492E-42EE-A342-CAB8D42B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430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80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Project objectives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143CD-8763-4590-B8BC-629E8F09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23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Build and evaluate a CNN that classifies images as fire or nofire.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FD2FA-803B-4150-A4E8-C62868C0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289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B4970-CC28-40A3-9DC7-90AAC191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52775"/>
            <a:ext cx="3952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Understand CNN fundamentals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3EE34-EFB6-4B03-B5FA-50F2278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861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Explain convolution, pooling, feature maps, and binary classification.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31BDD2-9972-4F62-9DE2-5A62D7F8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112D28-A12B-4547-9BEA-B4ED0C32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95750"/>
            <a:ext cx="3952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Train and evaluate responsibly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43D9B-148D-4D14-B4BF-EFB96666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4291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Apply augmentation, regularization, and class weighting; assess results on held-out data.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0F033-5FAE-46FE-B438-99C2B8E2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57800"/>
            <a:ext cx="4143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5FA8C4-21C2-418D-9AE2-761018E2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91150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12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Objective: report accuracy, class metrics, ROC AUC, and test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81268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49B2A-9143-41F9-A4A7-EECF3249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02  ·  T H E   D A T A S E 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6B608-0504-4799-AEE5-5681EE27B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ad71c8cf74b12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9C6DB-AE51-4DAC-9D5D-795D5B92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Images, Labels, and Data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B55C1-E340-4438-92BC-FA5F5917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59C1A-3EB9-492B-878A-FA91F98F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8A721-5456-41EC-A36E-E608568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2A7B7-4264-4E02-B97F-478FCF27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Dataset layout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E63ED-1B84-4C37-B055-5C16FEFB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4572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6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data / fire_dataset /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   nofire /  →  label 0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   fire /      →  label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67847-278A-41F9-A255-34440CD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22669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CAE4A-41A7-4624-B7FB-2D384269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573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2,506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D4775-23C3-46AC-867C-849A24D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24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IMAGES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C238-D9C9-49CE-BE91-8EE8ADAF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04950"/>
            <a:ext cx="22098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A0240-8412-4F8C-97B0-B5458EB8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573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F6F7D-CD4E-48E3-8C69-A3B168C9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241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CLASSES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D127B-8366-4256-8912-263E9C87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2669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F9D78-B531-4904-A977-F19D8FC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956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1,754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EDC9E-8252-402A-8786-6BCE35F5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62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TRAINING IMAGES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AB050-DF9A-445F-AF29-6A197CBE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0"/>
            <a:ext cx="22098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DADDF-1DBE-4BC7-B510-7FE90DB3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956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376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878C7-7F5D-427A-B629-B0B31E6F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624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VALIDATION AND TEST (EACH)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BE71D-2612-4E9D-AB51-169C2C0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125" b="1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Training 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B5BA2-FDA7-48FF-AFFA-F7240934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C5AF0-42C4-460C-940E-FFC50C91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05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F5B32"/>
                </a:solidFill>
                <a:latin typeface="Aptos"/>
                <a:ea typeface="Aptos"/>
                <a:cs typeface="Aptos"/>
              </a:rPr>
              <a:t>865 nofire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26F46-1630-4D85-85D3-CF14BE6D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57750"/>
            <a:ext cx="14763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BAB6D-8B31-4278-8BD9-4D21AD4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857750"/>
            <a:ext cx="132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889 fire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D8F3A2-E821-4BA9-AA74-24C62F3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62625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Stratified split: 1,754 train; 376 validation; 376 test.</a:t>
            </a:r>
          </a:p>
        </p:txBody>
      </p:sp>
      <p:graphicFrame>
        <p:nvGraphicFramePr>
          <p:cNvPr id="29" name="Chart">
            <a:extLst xmlns:a="http://schemas.openxmlformats.org/drawingml/2006/main">
              <a:ext uri="{FF2B5EF4-FFF2-40B4-BE49-F238E27FC236}">
                <a16:creationId xmlns:a16="http://schemas.microsoft.com/office/drawing/2014/main" id="{58F0F6C8-4112-487F-A451-744A8A258164}"/>
              </a:ext>
            </a:extLst>
          </p:cNvPr>
          <p:cNvGraphicFramePr/>
          <p:nvPr/>
        </p:nvGraphicFramePr>
        <p:xfrm>
          <a:off xmlns:a="http://schemas.openxmlformats.org/drawingml/2006/main" x="952500" y="3381375"/>
          <a:ext xmlns:a="http://schemas.openxmlformats.org/drawingml/2006/main" cx="4762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0568342e8a409d"/>
          </a:graphicData>
        </a:graphic>
      </p:graphicFrame>
    </p:spTree>
    <p:extLst>
      <p:ext uri="{BB962C8B-B14F-4D97-AF65-F5344CB8AC3E}">
        <p14:creationId xmlns:p14="http://schemas.microsoft.com/office/powerpoint/2010/main" val="1469886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BACB8F-02FD-411D-8E69-CC65B6C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03  ·  T H E   A P P R O A C H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61A58-E361-4F7A-B0E9-B5E7F5AAD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8af5a83d84f84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A353-E842-4B3D-904C-323F521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What the Model Predicts and 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CF003-596B-4669-8421-B0F80825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3ADF6-6B76-49CE-80D2-750DBD38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4E63E-148F-413A-B1AC-FEDA9BF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F8084-34E7-4A1D-89B2-FEA5FF1D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Prediction target: fire probability for one still image. At 0.50, scores at or above threshold map to fire.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F4F21-EFC6-4F7C-8574-6CB74044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5461E-5F27-4C77-86B3-A3060B6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Images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442AA-F35D-434C-8E80-A0887A58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Class folders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40F42-ECAB-4289-BA95-697A9DC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479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84CFB-3536-44BF-A762-B5C34E0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7DC5A-9021-4FD9-83A4-BF659BCA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Prepare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56EEB-487F-4532-95D7-AE4251F0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Resize +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F8D75-7A34-4ED0-978E-3C4EE864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FACC3-E003-4813-8DA4-466984E1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7E240-666F-4452-8F9A-338084C5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Augment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81763-748A-4B08-A52D-4C33276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Random transforms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0D022-0277-43A3-A7B9-91DF5429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479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4ED1C-9FCB-42E4-866C-3273BB4A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BEA9C-E418-4544-96EF-F2078E9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CNN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2EA56-9A06-4BFA-AC33-E0C1C20E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975" b="0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Feature learning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00986-7689-4130-84C4-59E7A7E8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479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35C74-449D-4C77-8CE3-CE6BBA1B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BA018-5B22-4A04-8D88-8B595E26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Evaluate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1273F-72A6-450C-9608-1B886407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Validation 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C3094-A92C-4189-8EC3-B872638B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4792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BB121-04E3-4237-A088-848595E0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EE9BE-396F-48F3-86F0-88522CC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907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Predict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2C5C2-52AE-4D64-A2CD-17E5F09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New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85AD6-06B3-4722-8419-D41DECC1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Input preparation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CB65F2-7A43-4ADB-A59B-98B74A0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655E8B-FDB6-4315-B292-696F2489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7190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Resize and normalize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DCFEC1-768B-4381-8923-B81D129D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05275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160 × 160 × 3; pixel values rescaled to 0–1.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CC409D-6948-4C37-AB8E-6C90B41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328112-B4F2-4D5F-9F55-CF55D88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1487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Batch and split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7D9320-8EEC-463C-9DE0-C1F468B7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482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Batch size 32; stratified 70% train, 15% validation, 15% test.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7E255-AA51-4902-A1BB-32A9C31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Training-only augmentation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0D82D4-D4ED-4368-B3EC-6A83AEEC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F56B4A-9BD6-4D32-8098-D0A1F0B5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38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Horizontal flip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41D761-B762-4C59-924C-3A499E37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14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9E911B-AF25-455A-8C92-2452D073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38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Small rotations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D733A8-8534-4C55-99C7-178DF92D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DF96E2-A31B-4DA2-8CC0-0DBAB6A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Zoom variation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CA0B20-37A1-42EA-84A9-2EDA654E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577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C73848-F33C-4A26-8155-2ECFE810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Contrast variation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D7B270-54EF-49EB-9E13-C3DD51F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244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Augmentation makes training examples more varied. Random transforms are inactive during normal inference.</a:t>
            </a:r>
          </a:p>
        </p:txBody>
      </p:sp>
    </p:spTree>
    <p:extLst>
      <p:ext uri="{BB962C8B-B14F-4D97-AF65-F5344CB8AC3E}">
        <p14:creationId xmlns:p14="http://schemas.microsoft.com/office/powerpoint/2010/main" val="1644975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813BEB-BF20-4453-AC23-9B50BCF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04  ·  T H E   M O D E 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E8D0D-7842-4C7D-9F21-BC3B5978A9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a58f0c08646f0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846E2-290E-47AA-93A5-767D712A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CNN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8A66F-F1B8-4335-9908-D3E321A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79C4D-5474-4E35-96CE-0A94872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99E87-74A1-455B-AA48-613D7AA5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7980E-F5AD-4ED1-BAEC-FD2EC8D8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Input image: 160 × 160 ×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954F5-CBD4-40AD-AF8E-3BAAECF0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2266950" cy="2333625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74E8C-AA37-455F-B2A2-B55B87F1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Block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C77D2-11D0-4736-9121-AC2A4E56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BB3AD-7A6A-4449-AEF4-FEC0F387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2 × Conv 3×3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32 filters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BatchNorm + ReLU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Pool: 80 × 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BA14B-B91A-4A2E-908F-E5EE6FF3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71825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39021-83FD-47D5-99A4-D40F4D1B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47875"/>
            <a:ext cx="2266950" cy="2333625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D711E-A167-4B3A-9A70-F36CE43A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098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Block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8DDC8-C153-400E-8274-97F77DBF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289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10A36-89D4-4546-A848-3AE3A76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67025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2 × Conv 3×3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64 filters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BatchNorm + ReLU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Pool: 40 × 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5882A-15FE-4039-8C45-09ED1361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71825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FAA8C-2244-4FC3-AFF1-63482D66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2266950" cy="2333625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5EBDD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CFE75-62B0-45E9-86B3-3F99BE4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Block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CC35F-AB89-42B5-B261-9691D9A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94DA5-1F03-492F-BAFD-373D17B6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67025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2 × Conv 3×3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128 filters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BatchNorm + ReLU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Pool: 20 × 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A7A10-AD5B-4766-886B-D90B8708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71825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E6F19-94AC-4BEB-B2D5-9591109B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1200150" cy="233362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0ED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A5DB1-FA4D-4E0A-8805-F62460C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098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Pool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622AC-908B-4B50-AC1D-6060A7BB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28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FC9B7-8EA3-47F5-BA48-3B990A2E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67025"/>
            <a:ext cx="933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Global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average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128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DCE66-03B9-4EE7-8BE2-B51CD70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71825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00EB8-DF94-45E1-9D10-DC3CCB93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47875"/>
            <a:ext cx="1219200" cy="233362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E4E1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2F3B8-1C7E-4A89-BC75-955E9B3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A62E9-1276-45F6-89BE-5D6A424A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28900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3A5CAB-E9C9-426D-96FB-6A42A8B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67025"/>
            <a:ext cx="95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Dense 128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Dropout 0.4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Sigmoid 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1C8120-20E2-4BDC-B681-A969C21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304,993 total parameters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2933BF-6110-4F18-8A92-F76875CB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816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Convolutions learn image patterns. Pooling reduces spatial size. Dropout regularizes the classifier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1469199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09700-4199-4EDE-BD27-A8C8786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05  ·  T R A I N I N G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CEBBA-0511-488D-BC4B-090526BE1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0f3b7d57845c6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5FF19-CDF6-4077-AA6B-7C1E96F5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How the CNN Learns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7E061-3BD0-48B2-9C7A-49432A1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F6AB9-5E4F-4FDA-885F-32BE6AD6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D1949-F87F-4F64-8642-FFC6A58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C88E3-0963-4BA9-BA2C-408C38E4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763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For each batch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A5936-31F3-456C-8072-71B1847F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E8D3-F7FF-4429-AE14-19556D2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84918-F5A7-482B-AE3A-965E9B28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7645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B420A-C81F-462A-BFB0-1F237483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57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CNN estimates P(fire) for each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008B9-F532-4A0D-8E2C-C2993B25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6C882-71ED-4FB8-B1EB-955C3FD3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9EA88-3B55-4F60-B648-925D1F72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Measure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3E9F0-CC6E-4E57-8BC3-9487045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Binary cross-entropy compares scores with 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0BA42-7EC9-44C7-8472-D1324B3F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6DD57-6896-495C-A1DF-53312866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844ED-449C-48A4-B8DF-6C5DEC0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Update weights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664FF-5218-4ACF-92D0-8015D3A1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Backpropagation computes gradients; Adam applies updates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505AD-6FB8-402D-AAB5-A1E13031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48958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8E54B-F1E6-4F49-8A6B-F941E75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Training 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B8808-18D3-4E2F-B51A-5E44E9A5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4286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Optimizer: Adam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Initial learning rate: 0.001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Batch size: 32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Maximum: 20 epochs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Loss: binary cross-entropy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07867-8C2B-42E5-BFC8-29DDE34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8407D-4A0E-4E30-B57A-75D30E55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Training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5569C-579D-47E3-95D4-476B4CF3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Checkpoint on best validation AUC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Early stop after 6 stagnant validation-loss epochs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Reduce learning rate after 3 stagnant epochs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10F6F-57D7-4A9A-8324-40BB5ABD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Class weights are computed from training counts. The observed classes are nearly balanced.</a:t>
            </a:r>
          </a:p>
        </p:txBody>
      </p:sp>
    </p:spTree>
    <p:extLst>
      <p:ext uri="{BB962C8B-B14F-4D97-AF65-F5344CB8AC3E}">
        <p14:creationId xmlns:p14="http://schemas.microsoft.com/office/powerpoint/2010/main" val="1452489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BA46F-9DCC-471D-A32F-D2B97686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06  ·  T R A I N I N G   H I S T O R 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2A9B3-6CD8-415D-8C65-593A65789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e4c40a24943b1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49227-AAFE-4BF2-9AAF-25821E6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Training and Validation Curves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B972F-6177-4183-A458-7475D1F2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3023C-7C61-4E79-BAF3-B5D9BDCD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30281-C450-46B4-9366-47B881C5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63CC3-FF6D-4CB1-B85C-677EEF00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95875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Training accuracy and loss track learning; validation curves show generalization each epoch.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97E65-381A-423F-9E74-C8CA2865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Training and validation loss are recorded by epoch to monitor fit and generalization.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BCB9A-B65D-4552-9E7A-3B607283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Curves are a training diagnostic, not proof of performance on unseen cameras or locations.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2A130E65-74E0-4993-9647-81A215A55FD4}"/>
              </a:ext>
            </a:extLst>
          </p:cNvPr>
          <p:cNvGraphicFramePr/>
          <p:nvPr/>
        </p:nvGraphicFramePr>
        <p:xfrm>
          <a:off xmlns:a="http://schemas.openxmlformats.org/drawingml/2006/main" x="819150" y="1428750"/>
          <a:ext xmlns:a="http://schemas.openxmlformats.org/drawingml/2006/main" cx="5048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32c4543daf400b"/>
          </a:graphicData>
        </a:graphic>
      </p:graphicFrame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150B85C4-A280-429E-9881-48C8D1CEDF38}"/>
              </a:ext>
            </a:extLst>
          </p:cNvPr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048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afb961541843f8"/>
          </a:graphicData>
        </a:graphic>
      </p:graphicFrame>
    </p:spTree>
    <p:extLst>
      <p:ext uri="{BB962C8B-B14F-4D97-AF65-F5344CB8AC3E}">
        <p14:creationId xmlns:p14="http://schemas.microsoft.com/office/powerpoint/2010/main" val="1508213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2AFB0-88A4-43E8-9F56-30565D75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07  ·  L E A R N I N G   C O N C E P T 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29FFA-50FE-4DF1-B2BE-748B841A4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897613318491e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38A9D-67BF-4A13-AEA5-1C5D8C50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How a CNN Builds Visual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14810-7676-42AE-991B-FC0FC686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8EF86-C6DC-40F4-8D9D-2474DC1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105D3-918C-4120-B656-2BF2DB8F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E5B03-2665-41A0-8482-B4DBA1B8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1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Early 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5FB47-9842-4D01-9519-0CD46AA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60FD1-C768-4DFF-8F22-FDF35935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Edges, color boundaries, simple textures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9C565-89BA-448E-B083-3EA5B11C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Middle layers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D80FA-BDE3-40EA-93A9-89E43FFC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71700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C4E3D-B0BA-44BC-B6F8-6AFEDF2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Local shapes and flame-like patterns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F13A7-4FBB-4E01-BC7E-DEADB69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Later layers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08D53-128B-4557-BBC4-01F5259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7A6FB-1E27-407B-94DA-7BC03152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Combinations of patterns useful for class separation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04954-EDBD-4A70-91DA-6FE2CF3A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10172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A4351-4916-4D92-9F12-385EE88A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61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F0D8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F0D8D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D8D5"/>
                </a:solidFill>
                <a:latin typeface="Aptos"/>
                <a:ea typeface="Aptos"/>
                <a:cs typeface="Aptos"/>
              </a:rPr>
              <a:t>Supervised learning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DAE77-F2FD-44AB-822A-BEF5713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67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Image + known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96A8F-2620-4A30-A0D2-E26BBB5A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24713-C944-4219-B15A-917A5D01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67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Predicted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F9576-54F0-4433-9A3E-1415E4B1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291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73D7C-85FA-47ED-9FF3-190147C0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67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Loss + gradient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B8647-8A18-4F6A-B829-1FEFDD85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Repeat over many batches. Validation results help decide when to stop and which checkpoint to retain.</a:t>
            </a:r>
          </a:p>
        </p:txBody>
      </p:sp>
    </p:spTree>
    <p:extLst>
      <p:ext uri="{BB962C8B-B14F-4D97-AF65-F5344CB8AC3E}">
        <p14:creationId xmlns:p14="http://schemas.microsoft.com/office/powerpoint/2010/main" val="756650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512CF-298B-4374-815D-E633C6AA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08  ·  R E S U L T S   &amp;   R E L I A B I L I T 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056D7-B117-411C-8EE1-623617D07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e05b513864beb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D88EF-61D0-492A-853E-ED5BBF50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Model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02832-EFB8-4DAF-81E2-077146CB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567A6-20A2-4F47-B34C-54FEED6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7113C-D6BB-4F92-AFAB-947CAE53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1E2E8-AFCA-4285-9C9C-D52677B8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85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Performance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272D5-804B-4DF4-9295-BBFB2E60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90725"/>
            <a:ext cx="23050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F84AA-2E70-4254-BB6F-9F2E0F2F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43125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95.04%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5B3BA-FB4D-4319-B915-8316BF49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TRAINING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1FDAB-CC26-486C-B515-554DADFA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90725"/>
            <a:ext cx="23050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C2592-7936-4415-899A-F13A8F5D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43125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92.82%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16BA8-4A49-48EE-93B9-F202B686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67025"/>
            <a:ext cx="1847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VALIDATION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F43B0-0437-48EB-98A0-1FA85041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4819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6593B-D07D-4C7C-B762-5C7BD6D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ROC 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E8B0B-50A1-4DE0-9A8F-B47ABD3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A53A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A53A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A53A33"/>
                </a:solidFill>
                <a:latin typeface="Aptos"/>
                <a:ea typeface="Aptos"/>
                <a:cs typeface="Aptos"/>
              </a:rPr>
              <a:t>Validation ROC AUC: 98.38%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550D2-C3AD-4B64-B441-8EF4B12F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Computed from the validation probabilities and labels.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7F226-BFAB-430D-8845-2D5B0517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144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575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Held-out test 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72ECE-332A-4C10-A909-59CE125B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667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4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Accuracy: 94.41%; ROC AUC: 98.75% across 376 test images.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8A13A-7879-41EB-90B6-8857398E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3377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AA89E-E41F-45B0-98C8-A1A9940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50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Test confusion matrix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11274-44F0-4748-98BF-77B6E7C3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52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At threshold 0.50: TN 181 · FP 4 · FN 17 · TP 174.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75E2C-130A-454F-A6A4-8EB0BB50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1014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A53A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A53A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53A33"/>
                </a:solidFill>
                <a:latin typeface="Aptos"/>
                <a:ea typeface="Aptos"/>
                <a:cs typeface="Aptos"/>
              </a:rPr>
              <a:t>The test split stayed untouched during training and threshold selection.</a:t>
            </a:r>
          </a:p>
        </p:txBody>
      </p:sp>
    </p:spTree>
    <p:extLst>
      <p:ext uri="{BB962C8B-B14F-4D97-AF65-F5344CB8AC3E}">
        <p14:creationId xmlns:p14="http://schemas.microsoft.com/office/powerpoint/2010/main" val="11450768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48E0F-2858-47CD-A77A-7ADF8EF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09  ·  E R R O R   A N A L Y S I 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AC345-88B1-457E-A19B-6B2F6912F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230413db34bd2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990F9-723D-45BC-83C5-D5A7140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Thresholds and Fire Recall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5039F-1E70-4217-BD9C-F79F36D0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943F0-0030-4312-8549-D5A659A3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43E96-884E-41DB-9961-3F93F619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B6C23-15A1-42FA-A521-8A3E3CA7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Decision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801F6-2B5D-4982-8FB1-FB86ABDF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977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4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The sigmoid score becomes a class decision after applying a cutoff. The notebook uses 0.50 as its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CE18E-67AD-4BD3-8F8A-C96C036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F5B32"/>
                </a:solidFill>
                <a:latin typeface="Aptos"/>
                <a:ea typeface="Aptos"/>
                <a:cs typeface="Aptos"/>
              </a:rPr>
              <a:t>Lower cutoff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F67C6-016D-4278-A4F9-DE63D694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Validation at 0.10: 96.3% fire recall; 13 false positives and 7 false negatives.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ABA55-F12B-4B06-A52C-E887EB93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Higher cutoff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B4908-2419-4173-AFF7-DEAEEFDE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Validation at 0.90: 78.0% fire recall; 1 false positive and 42 false negatives.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E46C0-F121-4D80-A1C4-496FE5C9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49911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9C60D-7561-4796-B048-397EC34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Metrics to 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FEB8B-1739-472C-A773-03191D91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CBD18-F242-4E24-BC82-1E6371B0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Precision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98DE7-5846-4479-8D0B-C28FD14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76525"/>
            <a:ext cx="3952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Of images flagged as fire, how many were fire?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1414E-8FF4-496E-B7A8-63D3D2B0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03F70-BAAF-42D6-9149-7392FEF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7660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972D5-4F19-4454-ACFC-895B9BA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9975"/>
            <a:ext cx="3952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Of actual fire images, how many did the model catch?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30022-52D9-49A5-874F-BBD125A2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790B6-8F43-4937-805A-6AE3C31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100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False negatives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8F131-B4C7-40D4-B74F-C3DEF074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43425"/>
            <a:ext cx="3952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Fire images classified as nofire.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2C74E-CBA1-440C-8B41-2AFBEE14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72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At the 0.50 baseline: 95.1% precision, 90.6% recall, 9 false positives, 18 false negatives.</a:t>
            </a:r>
          </a:p>
        </p:txBody>
      </p:sp>
    </p:spTree>
    <p:extLst>
      <p:ext uri="{BB962C8B-B14F-4D97-AF65-F5344CB8AC3E}">
        <p14:creationId xmlns:p14="http://schemas.microsoft.com/office/powerpoint/2010/main" val="1469902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3ACA8-9777-4E75-8982-0F186AC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10  ·  E X P L A I N A B I L I T 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A98EB-43B7-4CFF-8D45-86E5B95C33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16d8523c04df0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06F4B-73A0-434F-BF5F-113A8C08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Grad-CAM Visual Inspection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7C34B-6CC2-4325-8AFE-D37DC1A7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3493C-21C0-4FD9-8D78-55549CB4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7A94D-588B-46D1-9A75-909EDF47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B40CE-8D9D-412F-B9DC-B69C6C03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954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How the heatmap is computed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11B70-2503-405D-8ABB-2A2CC76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D0737-47E0-4CAB-B3E5-4D9C295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4D685-79E0-4D9F-BB0E-0D8C8FF1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85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Feature maps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5BDA8-E04D-467E-89E8-EC0549AF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3907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Use the final convolution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3665E-6988-42F4-8207-10A78B8D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8C2B9-17B1-40ED-9E30-6DF7A3D3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74CE6-FC3C-4321-80A0-F5DC5ECC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86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Gradients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BFFF1-4488-4C2E-84A5-DFD813EA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908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Differentiate fire score by feature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88F9E-4CAB-466B-A26B-FCDCE2C3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9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9DF87-4077-4A6B-B530-D317850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F2E51-10CA-468F-B1AE-24C426E6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86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Weights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337D2-EA97-43E7-8174-0CE11A2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9909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Average each channel gradient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FA272-92D1-4162-A330-266AD608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898B4-B63E-4FE1-B5E4-D4C22CF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2549C-123A-436D-B3CD-3C2EEC84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86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Overlay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FFA0F-3E0D-441E-BF3F-4C4FC57D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7910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Combine positive activations and resize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8884D-A177-41AD-A879-14AD9A7D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705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5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6C22A-DAF9-473B-BEFE-8F6DC420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What it can show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24D68B-03BF-4FA3-83BB-F4E457D7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05075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5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A heatmap highlights image regions associated with the model’s fire score. Review whether the model attends to relevant visual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ABD8C-B423-43AE-B54E-8135906D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004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44D58-1DA9-4281-93A8-C57D1CE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0050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What it cannot prove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B27F2-EC13-4F68-A897-75C3D24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6245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It does not prove causality, correctness, or deployment readiness.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88D2CC-348C-4FE4-B0B6-9641A6FD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81650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Grad-CAM is a diagnostic view, not a substitute for reliable external testing.</a:t>
            </a:r>
          </a:p>
        </p:txBody>
      </p:sp>
    </p:spTree>
    <p:extLst>
      <p:ext uri="{BB962C8B-B14F-4D97-AF65-F5344CB8AC3E}">
        <p14:creationId xmlns:p14="http://schemas.microsoft.com/office/powerpoint/2010/main" val="1860124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A1FA57-1A89-485C-9111-068838A4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11  ·  P R E D I C T I O 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5F4CC-6D33-420C-9F4F-E815DB960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57950e9e84e7a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88EBC-707E-4CA4-934B-F7DF79AF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Scoring a New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7B8A5-3A62-4BD9-B0B5-576E2DA7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A25E9-AE1C-4989-B16D-040FB63B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F4D6D-B032-4449-9678-EFC6F4A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62619-70D3-44B8-8938-67B105EE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Inference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B5069-BFC5-4103-B179-DECFC9B8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A6F9D-B226-4F58-8B43-59909E7F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E85D3-CB22-4857-A0EE-00B4AF11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Load JPG/PNG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3326D-B949-4E40-8388-66E2BED9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431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A6478-0E31-4220-824E-C1234925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9BDEB-530A-46A6-A6A1-28FC45C8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Convert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08C37-DAAD-425B-A999-B03589F1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908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RGB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47FCB-F5EB-4B6A-A630-0811CEC1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431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30A5B-152D-48C8-894E-ED4C6E56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01849-50DC-47CE-B7E9-209EBD73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Resize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4E253-2104-4D86-A033-FC643D2C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908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160 × 160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05C7B-02E9-499F-9D36-0B73417C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431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95F49-E700-4D47-B414-BE09207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4758F-7A12-4EDC-A1E5-ED4F4DB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Predict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4CDC8-6A86-4E11-B8C4-4B0AC61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Sigmoid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80B50-C5E8-4BBC-9756-00635FE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431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89E43-8BF5-4618-88FE-1AA0FE79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AB71D-230E-4B7F-92AB-F6830C96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Decide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EB4CE-4F40-41FC-9E2D-158722D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908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Cutoff 0.50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36A90-D61F-4569-8432-FEC1C7C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124CD-4DB5-48CF-A29D-FD85928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623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650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Example predictions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06A1E-D717-4D5F-BF27-5CA73CC1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362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45ED9D-A9D0-4C53-8E92-641885B3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394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86.8%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C8CB1C-9FB4-479A-9A5F-7F3BB51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EXAMPLE FIRE IMAGE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71074A-7843-4D7A-BB18-4C9C8DB1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05300"/>
            <a:ext cx="4362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B66837-474A-4F0C-921F-4EF4616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57700"/>
            <a:ext cx="394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0.2%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88CE89-E42C-4333-99AA-357C994B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75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EXAMPLE NOFIRE IMAGE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2F5C5-93D9-41F8-A406-03931A2B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1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696765"/>
                </a:solidFill>
                <a:latin typeface="Aptos"/>
                <a:ea typeface="Aptos"/>
                <a:cs typeface="Aptos"/>
              </a:rPr>
              <a:t>Each image receives a fire probability and a threshold-based class label.</a:t>
            </a:r>
          </a:p>
        </p:txBody>
      </p:sp>
    </p:spTree>
    <p:extLst>
      <p:ext uri="{BB962C8B-B14F-4D97-AF65-F5344CB8AC3E}">
        <p14:creationId xmlns:p14="http://schemas.microsoft.com/office/powerpoint/2010/main" val="265606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55AC2-95C7-4A6F-96ED-D98A92B5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12  ·  R E A L - W O R L D   P R O B L E M 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7BF70-AC53-4DEF-965B-273FF193DE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284ec8b504612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998CA-8AC3-4A97-8DE3-03C448F1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Real-World Problems and Case Study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580AC-53A1-49A3-8A21-A8454971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6EB27-F225-44C9-A0C3-A17FB40D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E9162-CE96-4B2E-BC14-9E3237F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EE03-2CD3-4BA4-8CC9-7846442E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954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Fire-response delays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D1ED4-46B1-45A5-A92A-3DDE7F6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8DB0E-180B-48B0-AEFD-C9268E84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019300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Detector response delay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5B5AE-20BA-4C5F-9A7C-4719C0B5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5267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Smoke detectors activate only after smoke reaches their sensing element.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98CF0-90DE-4630-8F01-9C9C6E22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38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3B607-184D-465F-8DF2-30D4EE5D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62275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Manual alarm dependency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58893-4CF3-4667-B4BE-BCF825F0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956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Someone must notice the fire and trigger a manual alarm.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B8D2B-6A44-49D4-9A88-42D5652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E2B87-0984-4212-9303-C232379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05250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Monitoring overload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D739B-FF84-4551-B372-37AFE215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3862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Staff may be unable to watch many camera feeds continuously.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2567D-30D4-4C43-89FA-E9E8DF03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244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8208A-5885-444B-BF89-9DD277C7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848225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3F5B32"/>
                </a:solidFill>
                <a:latin typeface="Georgia"/>
                <a:ea typeface="Georgia"/>
                <a:cs typeface="Georgia"/>
              </a:rPr>
              <a:t>Delayed incident awareness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2D986-CCC1-401D-9AE2-E71000D6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1816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Late alerts can slow evacuation, containment, and emergency response.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DCD1A-AAD0-4DE2-89C6-C54F1A57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49911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5D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88DE4-CCE6-4F02-9B7E-58D8EEF8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F0D8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725" b="1" i="0">
                <a:solidFill>
                  <a:srgbClr val="F0D8D5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0D8D5"/>
                </a:solidFill>
                <a:latin typeface="Georgia"/>
                <a:ea typeface="Georgia"/>
                <a:cs typeface="Georgia"/>
              </a:rPr>
              <a:t>Case study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78DDD-B607-451A-88FF-0702B67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90775"/>
            <a:ext cx="42862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Analyze camera images for visible signs of fire.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Classify each image as fire or nofire with a CNN.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Return a fire probability for a reviewer to assess.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Offer a visual cue that may prompt earlier investigation.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78A60-F2D0-41D1-8319-5B4FBD71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6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2F12F-5A06-477B-9749-8BBC0D97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2DFD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DFDD"/>
                </a:solidFill>
                <a:latin typeface="Aptos"/>
                <a:ea typeface="Aptos"/>
                <a:cs typeface="Aptos"/>
              </a:rPr>
              <a:t>Aim: support faster awareness and response through camera-based fire cues.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B5805E-D5F0-47A1-8049-F1AFBAB4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The case study explores whether camera images can provide an earlier visual indication of fire.</a:t>
            </a:r>
          </a:p>
        </p:txBody>
      </p:sp>
    </p:spTree>
    <p:extLst>
      <p:ext uri="{BB962C8B-B14F-4D97-AF65-F5344CB8AC3E}">
        <p14:creationId xmlns:p14="http://schemas.microsoft.com/office/powerpoint/2010/main" val="1068480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96069D-1522-4673-BC14-901ACF47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05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13  ·  C O N C L U S I O 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B04ED-3BBB-4FEE-8D17-CC0633770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39bdaac3a422e"/>
          <a:stretch xmlns:a="http://schemas.openxmlformats.org/drawingml/2006/main"/>
        </p:blipFill>
        <p:spPr>
          <a:xfrm xmlns:a="http://schemas.openxmlformats.org/drawingml/2006/main">
            <a:off x="457200" y="220455"/>
            <a:ext cx="400050" cy="43539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CCC39-1F2B-484C-8279-07B38A92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292929"/>
                </a:solidFill>
                <a:latin typeface="Georgia"/>
                <a:ea typeface="Georgia"/>
                <a:cs typeface="Georgia"/>
              </a:rPr>
              <a:t>Limitations, Future Work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7D7BC-917D-40C6-9D0E-AD2F95FB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5BB50-5731-4561-A7CA-0F56946A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Fire Detection CNN  |  Applied Artificial Neural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EA4B7-9C15-43F3-B8A0-EE0E1542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buNone/>
              <a:defRPr sz="975" b="0" i="0">
                <a:solidFill>
                  <a:srgbClr val="69676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9676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8338F-DF5C-4B8B-B9FA-3E38B405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95425"/>
            <a:ext cx="10172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E7E3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93987-BD33-4D35-AD77-01D6293D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49148-4B4C-4182-A5F5-DDC8A7AD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Image-based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D8171-073D-41B2-B6C2-7847A738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The model was tested on labeled images. Live video and temporal fire development were outside this evaluation.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31466-B623-4C4F-B4FE-08B78AB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85925"/>
            <a:ext cx="95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C7F4A-A6C3-4968-9AB7-D170BBF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192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F5B3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F633E-DA4B-4B22-9AA5-EC68A07A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764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Evaluate continuous video and temporal cues under varied indoor and outdoor conditions.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EC0B4-6E8A-427F-A01F-C8FE99CD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10172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5779E-23F1-43E8-A3B1-FB4DA383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CC622-DC7B-4F37-9879-DC9BC8F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Performance may vary by 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E8313-6E84-47D6-903F-F439632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New cameras, lighting, weather, viewpoints, and locations may change prediction quality.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0C456-AE5B-49F2-B5E2-1883EBA6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14675"/>
            <a:ext cx="95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C85AF-770C-4E0A-ABA7-93727B14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480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F5B3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C8E28-33E8-48C3-842A-7E4D701E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051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Expand testing across sites, seasons, cameras, and fire conditions; measure false alarms and missed fires.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6AFD5-8211-4F8C-8D99-47B8DF29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52925"/>
            <a:ext cx="10172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4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2EDBC-FD4D-4AA0-BC62-FBDD9922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BDCFE-9B75-4FB2-A677-067C5EA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9131A"/>
                </a:solidFill>
                <a:latin typeface="Georgia"/>
                <a:ea typeface="Georgia"/>
                <a:cs typeface="Georgia"/>
              </a:rPr>
              <a:t>Strong held-out image results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C66C9-EA4A-4A21-9FC5-9CC0E04C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The CNN reached 94.41% test accuracy and 98.75% ROC AUC on 376 held-out images.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C7DDD-E16B-4339-815D-60F087AD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43425"/>
            <a:ext cx="95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99FD4-7FCF-4325-920C-A1D2FFD9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76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900" b="1" i="0">
                <a:solidFill>
                  <a:srgbClr val="3F5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3F5B32"/>
                </a:solidFill>
                <a:latin typeface="Aptos"/>
                <a:ea typeface="Aptos"/>
                <a:cs typeface="Aptos"/>
              </a:rPr>
              <a:t>DEPLOYMENT NEXT 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5F717-D97D-48EB-894D-6212A51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339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92929"/>
                </a:solidFill>
                <a:latin typeface="Aptos"/>
                <a:ea typeface="Aptos"/>
                <a:cs typeface="Aptos"/>
              </a:rPr>
              <a:t>Pilot as a human-reviewed visual alert alongside certified alarms, then measure response time.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99228-CFEB-4269-B361-D4342DD1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769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79131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9131A"/>
                </a:solidFill>
                <a:latin typeface="Aptos"/>
                <a:ea typeface="Aptos"/>
                <a:cs typeface="Aptos"/>
              </a:rPr>
              <a:t>The CNN can add a camera-based cue for earlier awareness; real-world validation is needed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1646043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2026-10-09T05:35:01.0580000Z</dcterms:created>
  <dcterms:modified xsi:type="dcterms:W3CDTF">2026-10-09T05:35:01.0580000Z</dcterms:modified>
</coreProperties>
</file>